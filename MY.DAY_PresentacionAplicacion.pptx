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PSfwVUk_41-ulvJKus6zBiLVRPMBaMHk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kdhpmFYjEn5bk37LSPoJ9niYNEnsJwn-/view" TargetMode="External"/><Relationship Id="rId4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1Vazb55boSMVCl7-CwzliXEqYRGO-DFB/view" TargetMode="External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4572000" cy="18288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4960620"/>
            <a:ext cx="4572000" cy="182880"/>
          </a:xfrm>
          <a:prstGeom prst="rect">
            <a:avLst/>
          </a:prstGeom>
          <a:solidFill>
            <a:srgbClr val="6BBF59"/>
          </a:solidFill>
          <a:ln cap="flat" cmpd="sng" w="127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logo_myday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594360"/>
            <a:ext cx="402336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4572000" y="460438"/>
            <a:ext cx="4572000" cy="4291200"/>
          </a:xfrm>
          <a:prstGeom prst="rect">
            <a:avLst/>
          </a:prstGeom>
          <a:solidFill>
            <a:srgbClr val="112236"/>
          </a:solidFill>
          <a:ln cap="flat" cmpd="sng" w="12700">
            <a:solidFill>
              <a:srgbClr val="11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754880" y="1645920"/>
            <a:ext cx="1280160" cy="36576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754880" y="16459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172200" y="1645920"/>
            <a:ext cx="1280160" cy="365760"/>
          </a:xfrm>
          <a:prstGeom prst="rect">
            <a:avLst/>
          </a:prstGeom>
          <a:solidFill>
            <a:srgbClr val="6BBF59"/>
          </a:solidFill>
          <a:ln cap="flat" cmpd="sng" w="127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172200" y="16459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589520" y="1645920"/>
            <a:ext cx="1280160" cy="36576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589520" y="16459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MÓVIL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754880" y="2194560"/>
            <a:ext cx="4114800" cy="22860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900">
                <a:solidFill>
                  <a:schemeClr val="lt1"/>
                </a:solidFill>
              </a:rPr>
              <a:t>Tu día, una foto, un recuerdo para siempre.</a:t>
            </a:r>
            <a:endParaRPr i="1" sz="2900">
              <a:solidFill>
                <a:schemeClr val="lt1"/>
              </a:solidFill>
            </a:endParaRPr>
          </a:p>
        </p:txBody>
      </p:sp>
      <p:cxnSp>
        <p:nvCxnSpPr>
          <p:cNvPr id="28" name="Google Shape;28;p3"/>
          <p:cNvCxnSpPr/>
          <p:nvPr/>
        </p:nvCxnSpPr>
        <p:spPr>
          <a:xfrm>
            <a:off x="4754880" y="4636008"/>
            <a:ext cx="4114800" cy="0"/>
          </a:xfrm>
          <a:prstGeom prst="straightConnector1">
            <a:avLst/>
          </a:prstGeom>
          <a:noFill/>
          <a:ln cap="flat" cmpd="sng" w="12700">
            <a:solidFill>
              <a:srgbClr val="2A4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3"/>
          <p:cNvSpPr/>
          <p:nvPr/>
        </p:nvSpPr>
        <p:spPr>
          <a:xfrm>
            <a:off x="4754880" y="47091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Alberto Carril Saura  ·  DAM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9BD5"/>
                </a:solidFill>
                <a:latin typeface="Calibri"/>
                <a:ea typeface="Calibri"/>
                <a:cs typeface="Calibri"/>
                <a:sym typeface="Calibri"/>
              </a:rPr>
              <a:t>¿QUÉ ES MY.DAY?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64008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La red social temporal con memoria privada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1508760"/>
            <a:ext cx="502920" cy="502920"/>
          </a:xfrm>
          <a:prstGeom prst="ellipse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15568" y="15270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Comparte el momento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115568" y="1847088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Sube una foto diaria visible para todos en el feed principal.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2587752"/>
            <a:ext cx="502920" cy="502920"/>
          </a:xfrm>
          <a:prstGeom prst="ellipse">
            <a:avLst/>
          </a:prstGeom>
          <a:solidFill>
            <a:srgbClr val="6BBF59"/>
          </a:solidFill>
          <a:ln cap="flat" cmpd="sng" w="127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57200" y="25877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15568" y="26060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Contenido de 24 horas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115568" y="292608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Tras 24h, la publicación desaparece del muro público automáticamente.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3666744"/>
            <a:ext cx="502920" cy="502920"/>
          </a:xfrm>
          <a:prstGeom prst="ellipse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57200" y="366674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115568" y="368503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Diario visual privado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115568" y="4005072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Las fotos se conservan en tu perfil personal como recuerdos permanentes.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myday.png" id="49" name="Google Shape;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8665" y="1216143"/>
            <a:ext cx="1371599" cy="13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F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BF59"/>
                </a:solidFill>
                <a:latin typeface="Calibri"/>
                <a:ea typeface="Calibri"/>
                <a:cs typeface="Calibri"/>
                <a:sym typeface="Calibri"/>
              </a:rPr>
              <a:t>¿CÓMO FUNCIONA?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El ciclo de vida de una publicación en MY.DAY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20040" y="1371600"/>
            <a:ext cx="1920240" cy="3200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4A7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20040" y="14630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5B9BD5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20040" y="210312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20040" y="281635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11480" y="3273552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usuario crea su cuenta en cualquiera de las 3 plataformas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240280" y="237744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BF5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BBF5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468880" y="1371600"/>
            <a:ext cx="1920240" cy="32004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2468880" y="14630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2468880" y="210312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2468880" y="281635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Publica una foto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560320" y="3273552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Sube una imagen desde cámara, galería o archivo local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389120" y="237744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BF5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BBF5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617720" y="1371600"/>
            <a:ext cx="1920240" cy="3200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4A7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617720" y="14630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5B9BD5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617720" y="210312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617720" y="281635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Feed público 24h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709160" y="3273552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publicación es visible para todos durante 24 horas exactas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537960" y="237744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BF5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BBF5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766560" y="1371600"/>
            <a:ext cx="1920240" cy="3200400"/>
          </a:xfrm>
          <a:prstGeom prst="rect">
            <a:avLst/>
          </a:prstGeom>
          <a:solidFill>
            <a:srgbClr val="6BBF59"/>
          </a:solidFill>
          <a:ln cap="flat" cmpd="sng" w="127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766560" y="14630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766560" y="210312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766560" y="281635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Diario privado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858000" y="3273552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 pasar 24h queda guardada en el perfil personal del usuario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9BD5"/>
                </a:solidFill>
                <a:latin typeface="Calibri"/>
                <a:ea typeface="Calibri"/>
                <a:cs typeface="Calibri"/>
                <a:sym typeface="Calibri"/>
              </a:rPr>
              <a:t>ARQUITECTURA DEL SISTEMA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API RESTful como núcleo central de la plataforma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200400" y="1417320"/>
            <a:ext cx="2743200" cy="1371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3200400" y="14630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B9BD5"/>
                </a:solidFill>
                <a:latin typeface="Calibri"/>
                <a:ea typeface="Calibri"/>
                <a:cs typeface="Calibri"/>
                <a:sym typeface="Calibri"/>
              </a:rPr>
              <a:t>⚙️  Backend 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200400" y="19659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Java  ·  RESTful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Apache Tomcat  ·  Maven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6"/>
          <p:cNvCxnSpPr/>
          <p:nvPr/>
        </p:nvCxnSpPr>
        <p:spPr>
          <a:xfrm>
            <a:off x="4572000" y="2788920"/>
            <a:ext cx="0" cy="502920"/>
          </a:xfrm>
          <a:prstGeom prst="straightConnector1">
            <a:avLst/>
          </a:prstGeom>
          <a:noFill/>
          <a:ln cap="flat" cmpd="sng" w="254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6"/>
          <p:cNvCxnSpPr/>
          <p:nvPr/>
        </p:nvCxnSpPr>
        <p:spPr>
          <a:xfrm>
            <a:off x="1417320" y="3291840"/>
            <a:ext cx="6309360" cy="0"/>
          </a:xfrm>
          <a:prstGeom prst="straightConnector1">
            <a:avLst/>
          </a:prstGeom>
          <a:noFill/>
          <a:ln cap="flat" cmpd="sng" w="254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6"/>
          <p:cNvCxnSpPr/>
          <p:nvPr/>
        </p:nvCxnSpPr>
        <p:spPr>
          <a:xfrm>
            <a:off x="1417320" y="3291840"/>
            <a:ext cx="0" cy="411480"/>
          </a:xfrm>
          <a:prstGeom prst="straightConnector1">
            <a:avLst/>
          </a:prstGeom>
          <a:noFill/>
          <a:ln cap="flat" cmpd="sng" w="254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6"/>
          <p:cNvSpPr/>
          <p:nvPr/>
        </p:nvSpPr>
        <p:spPr>
          <a:xfrm>
            <a:off x="365760" y="3703320"/>
            <a:ext cx="2103120" cy="118872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365760" y="3767328"/>
            <a:ext cx="2103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App Web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65760" y="42976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 · CSS · JS · PHP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6"/>
          <p:cNvCxnSpPr/>
          <p:nvPr/>
        </p:nvCxnSpPr>
        <p:spPr>
          <a:xfrm>
            <a:off x="4251960" y="3291840"/>
            <a:ext cx="0" cy="411480"/>
          </a:xfrm>
          <a:prstGeom prst="straightConnector1">
            <a:avLst/>
          </a:prstGeom>
          <a:noFill/>
          <a:ln cap="flat" cmpd="sng" w="254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6"/>
          <p:cNvSpPr/>
          <p:nvPr/>
        </p:nvSpPr>
        <p:spPr>
          <a:xfrm>
            <a:off x="3200400" y="3703320"/>
            <a:ext cx="2103120" cy="11887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3200400" y="3767328"/>
            <a:ext cx="2103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🖥️ Escritorio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3200400" y="42976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C#  ·  Windows Forms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6"/>
          <p:cNvCxnSpPr/>
          <p:nvPr/>
        </p:nvCxnSpPr>
        <p:spPr>
          <a:xfrm>
            <a:off x="7086600" y="3291840"/>
            <a:ext cx="0" cy="411480"/>
          </a:xfrm>
          <a:prstGeom prst="straightConnector1">
            <a:avLst/>
          </a:prstGeom>
          <a:noFill/>
          <a:ln cap="flat" cmpd="sng" w="254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6"/>
          <p:cNvSpPr/>
          <p:nvPr/>
        </p:nvSpPr>
        <p:spPr>
          <a:xfrm>
            <a:off x="6035040" y="3703320"/>
            <a:ext cx="2103120" cy="1188720"/>
          </a:xfrm>
          <a:prstGeom prst="rect">
            <a:avLst/>
          </a:prstGeom>
          <a:solidFill>
            <a:srgbClr val="6BBF59"/>
          </a:solidFill>
          <a:ln cap="flat" cmpd="sng" w="127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035040" y="3767328"/>
            <a:ext cx="2103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 App Móvil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035040" y="42976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Java  ·  Android Studio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200400" y="30175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BF59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BBF59"/>
                </a:solidFill>
                <a:latin typeface="Calibri"/>
                <a:ea typeface="Calibri"/>
                <a:cs typeface="Calibri"/>
                <a:sym typeface="Calibri"/>
              </a:rPr>
              <a:t>Comunicación vía API RESTful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F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BF59"/>
                </a:solidFill>
                <a:latin typeface="Calibri"/>
                <a:ea typeface="Calibri"/>
                <a:cs typeface="Calibri"/>
                <a:sym typeface="Calibri"/>
              </a:rPr>
              <a:t>VISTAS PRINCIPALES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57200" y="60350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Las pantallas clave de la experiencia MY.DAY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20040" y="1280160"/>
            <a:ext cx="274320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320040" y="1280160"/>
            <a:ext cx="2743200" cy="2103120"/>
          </a:xfrm>
          <a:prstGeom prst="rect">
            <a:avLst/>
          </a:prstGeom>
          <a:solidFill>
            <a:srgbClr val="112236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320040" y="3383280"/>
            <a:ext cx="2743200" cy="164592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411480" y="358444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Feed Principal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11480" y="4005072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Publicaciones de las últimas 24h. Actualización dinámica y contenido temporal.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3200400" y="1280160"/>
            <a:ext cx="274320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3200400" y="1280160"/>
            <a:ext cx="2743200" cy="2103120"/>
          </a:xfrm>
          <a:prstGeom prst="rect">
            <a:avLst/>
          </a:prstGeom>
          <a:solidFill>
            <a:srgbClr val="112236"/>
          </a:solidFill>
          <a:ln cap="flat" cmpd="sng" w="127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3200400" y="3383280"/>
            <a:ext cx="2743200" cy="164592"/>
          </a:xfrm>
          <a:prstGeom prst="rect">
            <a:avLst/>
          </a:prstGeom>
          <a:solidFill>
            <a:srgbClr val="6BBF59"/>
          </a:solidFill>
          <a:ln cap="flat" cmpd="sng" w="127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3291840" y="358444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Subida de Fotos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291840" y="4005072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Cámara en móvil. Archivos locales en web y escritorio.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080760" y="1280160"/>
            <a:ext cx="274320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6080760" y="1280160"/>
            <a:ext cx="2743200" cy="2103120"/>
          </a:xfrm>
          <a:prstGeom prst="rect">
            <a:avLst/>
          </a:prstGeom>
          <a:solidFill>
            <a:srgbClr val="112236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080760" y="3383280"/>
            <a:ext cx="2743200" cy="164592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172200" y="358444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Perfil Personal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172200" y="4005072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Historial completo como diario visual privado del usuario.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7" title="Captura de pantalla 2026-05-28 0942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1247000"/>
            <a:ext cx="2743200" cy="2242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 title="Captura de pantalla 2026-05-28 0942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050" y="1216150"/>
            <a:ext cx="2743200" cy="21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7" title="Captura de pantalla 2026-05-28 1551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0750" y="1247000"/>
            <a:ext cx="2743199" cy="2242599"/>
          </a:xfrm>
          <a:prstGeom prst="rect">
            <a:avLst/>
          </a:prstGeom>
          <a:solidFill>
            <a:srgbClr val="112236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365760" y="45720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65760" y="137160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Aplicación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Web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11480" y="2606040"/>
            <a:ext cx="2834640" cy="384048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11480" y="260604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11480" y="3108960"/>
            <a:ext cx="2834640" cy="384048"/>
          </a:xfrm>
          <a:prstGeom prst="rect">
            <a:avLst/>
          </a:prstGeom>
          <a:solidFill>
            <a:srgbClr val="6BBF59"/>
          </a:solidFill>
          <a:ln cap="flat" cmpd="sng" w="127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411480" y="310896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11480" y="3611880"/>
            <a:ext cx="2834640" cy="384048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411480" y="361188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11480" y="4114800"/>
            <a:ext cx="2834640" cy="384048"/>
          </a:xfrm>
          <a:prstGeom prst="rect">
            <a:avLst/>
          </a:prstGeom>
          <a:solidFill>
            <a:srgbClr val="6BBF59"/>
          </a:solidFill>
          <a:ln cap="flat" cmpd="sng" w="127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411480" y="411480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749078" y="109732"/>
            <a:ext cx="5120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F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BF59"/>
                </a:solidFill>
                <a:latin typeface="Calibri"/>
                <a:ea typeface="Calibri"/>
                <a:cs typeface="Calibri"/>
                <a:sym typeface="Calibri"/>
              </a:rPr>
              <a:t>FUNCIONALIDADES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749040" y="457193"/>
            <a:ext cx="51207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Visualización del feed diario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Registro e inicio de sesión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Subida de imágenes desde dispositivo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Gestión del perfil del usuario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8" title="Grabación de pantalla 2026-04-30 23344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3375" y="2152025"/>
            <a:ext cx="3988625" cy="29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BF59"/>
          </a:solidFill>
          <a:ln cap="flat" cmpd="sng" w="127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365760" y="45720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365760" y="137160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Aplicación 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Escritorio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11480" y="2606040"/>
            <a:ext cx="2834640" cy="384048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411480" y="260604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C#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11480" y="3108960"/>
            <a:ext cx="2834640" cy="384048"/>
          </a:xfrm>
          <a:prstGeom prst="rect">
            <a:avLst/>
          </a:prstGeom>
          <a:solidFill>
            <a:srgbClr val="6BBF59"/>
          </a:solidFill>
          <a:ln cap="flat" cmpd="sng" w="127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411480" y="310896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Windows Forms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11480" y="3611880"/>
            <a:ext cx="2834640" cy="384048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411480" y="361188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 Studio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3749078" y="109732"/>
            <a:ext cx="5120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F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BF59"/>
                </a:solidFill>
                <a:latin typeface="Calibri"/>
                <a:ea typeface="Calibri"/>
                <a:cs typeface="Calibri"/>
                <a:sym typeface="Calibri"/>
              </a:rPr>
              <a:t>FUNCIONALIDADES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3749040" y="457193"/>
            <a:ext cx="51207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Inicio de sesión y registro de usuario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Visualización del feed de publicaciones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Subida de fotografías locales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Gestión del perfil personal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9" title="VideoAPPEscritori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7126" y="2110747"/>
            <a:ext cx="5120626" cy="2880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365760" y="45720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365760" y="137160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Aplicación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Móvil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411480" y="2606040"/>
            <a:ext cx="2834640" cy="384048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411480" y="260604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411480" y="3108960"/>
            <a:ext cx="2834640" cy="384048"/>
          </a:xfrm>
          <a:prstGeom prst="rect">
            <a:avLst/>
          </a:prstGeom>
          <a:solidFill>
            <a:srgbClr val="6BBF59"/>
          </a:solidFill>
          <a:ln cap="flat" cmpd="sng" w="127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411480" y="310896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Android Studio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3749040" y="256032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F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BF59"/>
                </a:solidFill>
                <a:latin typeface="Calibri"/>
                <a:ea typeface="Calibri"/>
                <a:cs typeface="Calibri"/>
                <a:sym typeface="Calibri"/>
              </a:rPr>
              <a:t>FUNCIONALIDADES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3611900" y="684375"/>
            <a:ext cx="2501700" cy="35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Captura directa desde la cámara del dispositivo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Subida de imágenes desde la galería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Feed diario de publicaciones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Perfil personal del usuario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Inicio de sesión y registro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0" title="VideoAppMovi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0766" y="0"/>
            <a:ext cx="2893220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6BBF59"/>
          </a:solidFill>
          <a:ln cap="flat" cmpd="sng" w="127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91440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BF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BF59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914400" y="82296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7200"/>
              <a:buFont typeface="Georgia"/>
              <a:buNone/>
            </a:pPr>
            <a:r>
              <a:rPr b="1" i="0" lang="en-US" sz="7200" u="none" cap="none" strike="noStrike">
                <a:solidFill>
                  <a:srgbClr val="5B9BD5"/>
                </a:solidFill>
                <a:latin typeface="Georgia"/>
                <a:ea typeface="Georgia"/>
                <a:cs typeface="Georgia"/>
                <a:sym typeface="Georgia"/>
              </a:rPr>
              <a:t>MY.</a:t>
            </a:r>
            <a:r>
              <a:rPr b="1" i="0" lang="en-US" sz="7200" u="none" cap="none" strike="noStrike">
                <a:solidFill>
                  <a:srgbClr val="6BBF59"/>
                </a:solidFill>
                <a:latin typeface="Georgia"/>
                <a:ea typeface="Georgia"/>
                <a:cs typeface="Georgia"/>
                <a:sym typeface="Georgia"/>
              </a:rPr>
              <a:t>DAY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097280" y="2286000"/>
            <a:ext cx="6949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Una plataforma multiplataforma que combina la inmediatez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 las redes sociales temporales con la privacidad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 organización de un diario visual personal.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1463040" y="3749040"/>
            <a:ext cx="1920240" cy="822960"/>
          </a:xfrm>
          <a:prstGeom prst="rect">
            <a:avLst/>
          </a:prstGeom>
          <a:solidFill>
            <a:srgbClr val="112236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1463040" y="376732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5B9BD5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1463040" y="422452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Plataformas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3840480" y="3749040"/>
            <a:ext cx="1920240" cy="822960"/>
          </a:xfrm>
          <a:prstGeom prst="rect">
            <a:avLst/>
          </a:prstGeom>
          <a:solidFill>
            <a:srgbClr val="112236"/>
          </a:solidFill>
          <a:ln cap="flat" cmpd="sng" w="12700">
            <a:solidFill>
              <a:srgbClr val="6BB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3840480" y="376732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BF59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6BBF59"/>
                </a:solidFill>
                <a:latin typeface="Georgia"/>
                <a:ea typeface="Georgia"/>
                <a:cs typeface="Georgia"/>
                <a:sym typeface="Georgia"/>
              </a:rPr>
              <a:t>24h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3840480" y="422452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Feed temporal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6217920" y="3749040"/>
            <a:ext cx="1920240" cy="822960"/>
          </a:xfrm>
          <a:prstGeom prst="rect">
            <a:avLst/>
          </a:prstGeom>
          <a:solidFill>
            <a:srgbClr val="112236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6217920" y="376732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5B9BD5"/>
                </a:solidFill>
                <a:latin typeface="Georgia"/>
                <a:ea typeface="Georgia"/>
                <a:cs typeface="Georgia"/>
                <a:sym typeface="Georgia"/>
              </a:rPr>
              <a:t>∞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6217920" y="422452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Recuerdos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914400" y="475488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Alberto Carril Saura  ·  Desarrollo de Aplicaciones Multiplataforma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